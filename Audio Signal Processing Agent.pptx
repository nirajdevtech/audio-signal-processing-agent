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83" r:id="rId2"/>
    <p:sldId id="257" r:id="rId3"/>
    <p:sldId id="282" r:id="rId4"/>
    <p:sldId id="285" r:id="rId5"/>
    <p:sldId id="278" r:id="rId6"/>
    <p:sldId id="279" r:id="rId7"/>
    <p:sldId id="262" r:id="rId8"/>
    <p:sldId id="292" r:id="rId9"/>
    <p:sldId id="294" r:id="rId10"/>
    <p:sldId id="290" r:id="rId11"/>
    <p:sldId id="291" r:id="rId12"/>
    <p:sldId id="295" r:id="rId13"/>
    <p:sldId id="296" r:id="rId14"/>
    <p:sldId id="297" r:id="rId15"/>
    <p:sldId id="298" r:id="rId16"/>
    <p:sldId id="299" r:id="rId17"/>
    <p:sldId id="300" r:id="rId18"/>
    <p:sldId id="286" r:id="rId19"/>
    <p:sldId id="287" r:id="rId20"/>
    <p:sldId id="280" r:id="rId21"/>
    <p:sldId id="288" r:id="rId22"/>
    <p:sldId id="293" r:id="rId23"/>
    <p:sldId id="289" r:id="rId24"/>
    <p:sldId id="276"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746EE066-C99A-1548-0111-A8297267F854}" v="733" dt="2026-06-19T08:10:03.439"/>
    <p1510:client id="{86BCD85A-7972-A6FD-263D-01F0C6DCFF46}" v="8" dt="2026-06-19T08:02:34.666"/>
    <p1510:client id="{A6B9108B-7598-1D50-C4AA-8A38026DAEEF}" v="18" dt="2026-06-19T06:56:18.840"/>
    <p1510:client id="{F65B29D0-DD12-DDC3-5CE1-E2A91AABFDBA}" v="57" dt="2026-06-19T08:09:53.82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85406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40760264"/>
              </p:ext>
            </p:extLst>
          </p:nvPr>
        </p:nvGraphicFramePr>
        <p:xfrm>
          <a:off x="1391026" y="26765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Niraj </a:t>
                      </a:r>
                      <a:r>
                        <a:rPr lang="en-US" dirty="0" err="1"/>
                        <a:t>kumar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Neeraj91937@gmail.com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+917857001726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US" sz="2400" b="1" dirty="0">
                <a:highlight>
                  <a:srgbClr val="FFFF00"/>
                </a:highlight>
              </a:rPr>
              <a:t>[Electronics and Telecommunications Engineering]</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10280254" cy="461665"/>
          </a:xfrm>
          <a:prstGeom prst="rect">
            <a:avLst/>
          </a:prstGeom>
          <a:noFill/>
        </p:spPr>
        <p:txBody>
          <a:bodyPr wrap="square" rtlCol="0">
            <a:spAutoFit/>
          </a:bodyPr>
          <a:lstStyle/>
          <a:p>
            <a:r>
              <a:rPr lang="en-US" sz="2400" b="1" dirty="0"/>
              <a:t>Project Title – </a:t>
            </a:r>
            <a:r>
              <a:rPr lang="en-US" sz="2400" b="1" dirty="0">
                <a:highlight>
                  <a:srgbClr val="FFFF00"/>
                </a:highlight>
              </a:rPr>
              <a:t>[Audio Signal Processing Agent]</a:t>
            </a:r>
            <a:endParaRPr lang="en-IN" sz="2400" b="1" dirty="0">
              <a:highlight>
                <a:srgbClr val="FFFF00"/>
              </a:highlight>
            </a:endParaRPr>
          </a:p>
        </p:txBody>
      </p:sp>
      <p:pic>
        <p:nvPicPr>
          <p:cNvPr id="5" name="Picture 4">
            <a:extLst>
              <a:ext uri="{FF2B5EF4-FFF2-40B4-BE49-F238E27FC236}">
                <a16:creationId xmlns:a16="http://schemas.microsoft.com/office/drawing/2014/main" id="{154B3E56-AB86-B108-E4E0-239C22BDF265}"/>
              </a:ext>
            </a:extLst>
          </p:cNvPr>
          <p:cNvPicPr>
            <a:picLocks noChangeAspect="1"/>
          </p:cNvPicPr>
          <p:nvPr/>
        </p:nvPicPr>
        <p:blipFill>
          <a:blip r:embed="rId3"/>
          <a:stretch>
            <a:fillRect/>
          </a:stretch>
        </p:blipFill>
        <p:spPr>
          <a:xfrm>
            <a:off x="4042047" y="3683879"/>
            <a:ext cx="794657" cy="1059543"/>
          </a:xfrm>
          <a:prstGeom prst="rect">
            <a:avLst/>
          </a:prstGeom>
        </p:spPr>
      </p:pic>
      <p:pic>
        <p:nvPicPr>
          <p:cNvPr id="3" name="Picture 2">
            <a:extLst>
              <a:ext uri="{FF2B5EF4-FFF2-40B4-BE49-F238E27FC236}">
                <a16:creationId xmlns:a16="http://schemas.microsoft.com/office/drawing/2014/main" id="{B7DC1B01-A414-6519-6B68-1647BDD9FCD5}"/>
              </a:ext>
            </a:extLst>
          </p:cNvPr>
          <p:cNvPicPr>
            <a:picLocks noChangeAspect="1"/>
          </p:cNvPicPr>
          <p:nvPr/>
        </p:nvPicPr>
        <p:blipFill>
          <a:blip r:embed="rId4"/>
          <a:stretch>
            <a:fillRect/>
          </a:stretch>
        </p:blipFill>
        <p:spPr>
          <a:xfrm>
            <a:off x="4042047" y="3685611"/>
            <a:ext cx="937503" cy="105781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65059" y="1030568"/>
            <a:ext cx="11357834" cy="3785652"/>
          </a:xfrm>
          <a:prstGeom prst="rect">
            <a:avLst/>
          </a:prstGeom>
          <a:noFill/>
        </p:spPr>
        <p:txBody>
          <a:bodyPr wrap="square" lIns="91440" tIns="45720" rIns="91440" bIns="45720" rtlCol="0" anchor="t">
            <a:spAutoFit/>
          </a:bodyPr>
          <a:lstStyle/>
          <a:p>
            <a:r>
              <a:rPr lang="en-US" sz="2000" b="1" dirty="0"/>
              <a:t>Problem Statement:– Audio Signal Processing Assistant Agent</a:t>
            </a:r>
            <a:endParaRPr lang="en-IN" sz="2000" b="1" dirty="0"/>
          </a:p>
          <a:p>
            <a:r>
              <a:rPr lang="en-IN" sz="2000" dirty="0"/>
              <a:t>Audio signal processing is a critical part of electronics, communication systems, and multimedia applications. Engineers and students frequently encounter problems such as amplifier noise, audio distortion, grounding issues, signal attenuation, filter design errors, impedance mismatch, and unstable op-amp circuits. Diagnosing these problems requires technical expertise and significant troubleshooting time.</a:t>
            </a:r>
          </a:p>
          <a:p>
            <a:r>
              <a:rPr lang="en-IN" sz="2000" dirty="0"/>
              <a:t>This project proposes an AI-powered Audio Signal Processing Assistant that uses IBM Granite AI to </a:t>
            </a:r>
            <a:r>
              <a:rPr lang="en-IN" sz="2000" dirty="0" err="1"/>
              <a:t>analyze</a:t>
            </a:r>
            <a:r>
              <a:rPr lang="en-IN" sz="2000" dirty="0"/>
              <a:t> user queries related to audio circuits and provide intelligent recommendations. The assistant helps users identify the root cause of circuit problems, suggests suitable filter designs, recommends grounding techniques, and provides practical solutions for improving audio quality. The system reduces troubleshooting time and serves as an intelligent technical assistant for students, hobbyists, and engineers.</a:t>
            </a:r>
          </a:p>
        </p:txBody>
      </p:sp>
      <p:sp>
        <p:nvSpPr>
          <p:cNvPr id="3" name="TextBox 2">
            <a:extLst>
              <a:ext uri="{FF2B5EF4-FFF2-40B4-BE49-F238E27FC236}">
                <a16:creationId xmlns:a16="http://schemas.microsoft.com/office/drawing/2014/main" id="{3847FA31-EA47-D27A-9D69-AF50A3080AEC}"/>
              </a:ext>
            </a:extLst>
          </p:cNvPr>
          <p:cNvSpPr txBox="1"/>
          <p:nvPr/>
        </p:nvSpPr>
        <p:spPr>
          <a:xfrm>
            <a:off x="565059" y="340303"/>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36784" y="631191"/>
            <a:ext cx="11243736" cy="6771084"/>
          </a:xfrm>
          <a:prstGeom prst="rect">
            <a:avLst/>
          </a:prstGeom>
          <a:noFill/>
        </p:spPr>
        <p:txBody>
          <a:bodyPr wrap="square" lIns="91440" tIns="45720" rIns="91440" bIns="45720" rtlCol="0" anchor="t">
            <a:spAutoFit/>
          </a:bodyPr>
          <a:lstStyle/>
          <a:p>
            <a:r>
              <a:rPr lang="en-IN" sz="2000" dirty="0"/>
              <a:t>The proposed solution is an AI-powered Audio Signal Processing Assistant developed using IBM watsonx.ai, IBM Granite Foundation Models, Python Flask, and IBM Cloud.</a:t>
            </a:r>
          </a:p>
          <a:p>
            <a:endParaRPr lang="en-IN" sz="2000" dirty="0"/>
          </a:p>
          <a:p>
            <a:r>
              <a:rPr lang="en-IN" sz="2000" dirty="0"/>
              <a:t>The assistant receives user questions related to audio circuits and signal processing. IBM Granite AI understands the technical query, </a:t>
            </a:r>
            <a:r>
              <a:rPr lang="en-IN" sz="2000" dirty="0" err="1"/>
              <a:t>analyzes</a:t>
            </a:r>
            <a:r>
              <a:rPr lang="en-IN" sz="2000" dirty="0"/>
              <a:t> the circuit problem, and generates intelligent recommendations.</a:t>
            </a:r>
          </a:p>
          <a:p>
            <a:endParaRPr lang="en-IN" sz="2000" dirty="0"/>
          </a:p>
          <a:p>
            <a:r>
              <a:rPr lang="en-IN" sz="2000" dirty="0"/>
              <a:t>The system provides:</a:t>
            </a:r>
          </a:p>
          <a:p>
            <a:endParaRPr lang="en-IN" sz="2000" dirty="0"/>
          </a:p>
          <a:p>
            <a:pPr marL="342900" indent="-342900">
              <a:buFont typeface="Arial" panose="020B0604020202020204" pitchFamily="34" charset="0"/>
              <a:buChar char="•"/>
            </a:pPr>
            <a:r>
              <a:rPr lang="en-IN" sz="2000" dirty="0"/>
              <a:t>Audio amplifier troubleshooting </a:t>
            </a:r>
          </a:p>
          <a:p>
            <a:pPr marL="342900" indent="-342900">
              <a:buFont typeface="Arial" panose="020B0604020202020204" pitchFamily="34" charset="0"/>
              <a:buChar char="•"/>
            </a:pPr>
            <a:r>
              <a:rPr lang="en-IN" sz="2000" dirty="0"/>
              <a:t>Noise reduction techniques </a:t>
            </a:r>
          </a:p>
          <a:p>
            <a:pPr marL="342900" indent="-342900">
              <a:buFont typeface="Arial" panose="020B0604020202020204" pitchFamily="34" charset="0"/>
              <a:buChar char="•"/>
            </a:pPr>
            <a:r>
              <a:rPr lang="en-IN" sz="2000" dirty="0"/>
              <a:t>Active and passive filter recommendations </a:t>
            </a:r>
          </a:p>
          <a:p>
            <a:pPr marL="342900" indent="-342900">
              <a:buFont typeface="Arial" panose="020B0604020202020204" pitchFamily="34" charset="0"/>
              <a:buChar char="•"/>
            </a:pPr>
            <a:r>
              <a:rPr lang="en-IN" sz="2000" dirty="0"/>
              <a:t>Ground loop analysis </a:t>
            </a:r>
          </a:p>
          <a:p>
            <a:pPr marL="342900" indent="-342900">
              <a:buFont typeface="Arial" panose="020B0604020202020204" pitchFamily="34" charset="0"/>
              <a:buChar char="•"/>
            </a:pPr>
            <a:r>
              <a:rPr lang="en-IN" sz="2000" dirty="0"/>
              <a:t>Distortion analysis </a:t>
            </a:r>
          </a:p>
          <a:p>
            <a:pPr marL="342900" indent="-342900">
              <a:buFont typeface="Arial" panose="020B0604020202020204" pitchFamily="34" charset="0"/>
              <a:buChar char="•"/>
            </a:pPr>
            <a:r>
              <a:rPr lang="en-IN" sz="2000" dirty="0"/>
              <a:t>Op-Amp circuit guidance </a:t>
            </a:r>
          </a:p>
          <a:p>
            <a:pPr marL="342900" indent="-342900">
              <a:buFont typeface="Arial" panose="020B0604020202020204" pitchFamily="34" charset="0"/>
              <a:buChar char="•"/>
            </a:pPr>
            <a:r>
              <a:rPr lang="en-IN" sz="2000" dirty="0"/>
              <a:t>Audio circuit optimization </a:t>
            </a:r>
          </a:p>
          <a:p>
            <a:pPr marL="342900" indent="-342900">
              <a:buFont typeface="Arial" panose="020B0604020202020204" pitchFamily="34" charset="0"/>
              <a:buChar char="•"/>
            </a:pPr>
            <a:r>
              <a:rPr lang="en-IN" sz="2000" dirty="0"/>
              <a:t>Component selection assistance </a:t>
            </a:r>
          </a:p>
          <a:p>
            <a:endParaRPr lang="en-IN" sz="2000" dirty="0"/>
          </a:p>
          <a:p>
            <a:r>
              <a:rPr lang="en-IN" sz="2000" dirty="0"/>
              <a:t>The application provides a simple web interface where users receive AI-generated technical guidance instantly.</a:t>
            </a:r>
          </a:p>
          <a:p>
            <a:endParaRPr lang="en-IN" sz="1800" dirty="0"/>
          </a:p>
          <a:p>
            <a:pPr fontAlgn="base"/>
            <a:endParaRPr lang="en-US" sz="16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36784" y="169526"/>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189412" y="173839"/>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352696" y="404672"/>
            <a:ext cx="11839303" cy="5786199"/>
          </a:xfrm>
          <a:prstGeom prst="rect">
            <a:avLst/>
          </a:prstGeom>
          <a:noFill/>
        </p:spPr>
        <p:txBody>
          <a:bodyPr wrap="square" lIns="91440" tIns="45720" rIns="91440" bIns="45720" rtlCol="0" anchor="t">
            <a:spAutoFit/>
          </a:bodyPr>
          <a:lstStyle/>
          <a:p>
            <a:endParaRPr lang="en-US" sz="1800" dirty="0"/>
          </a:p>
          <a:p>
            <a:endParaRPr lang="en-IN" sz="1800" b="1" dirty="0"/>
          </a:p>
          <a:p>
            <a:r>
              <a:rPr lang="en-IN" sz="1800" b="1" dirty="0"/>
              <a:t>IBM Cloud</a:t>
            </a:r>
          </a:p>
          <a:p>
            <a:r>
              <a:rPr lang="en-IN" sz="1800" dirty="0"/>
              <a:t>Provides cloud infrastructure for hosting AI services.</a:t>
            </a:r>
          </a:p>
          <a:p>
            <a:endParaRPr lang="en-IN" sz="1800" dirty="0"/>
          </a:p>
          <a:p>
            <a:r>
              <a:rPr lang="en-IN" sz="1800" b="1" dirty="0"/>
              <a:t>IBM watsonx.ai</a:t>
            </a:r>
          </a:p>
          <a:p>
            <a:r>
              <a:rPr lang="en-IN" sz="1800" dirty="0"/>
              <a:t>Used to access IBM Granite foundation models.</a:t>
            </a:r>
          </a:p>
          <a:p>
            <a:endParaRPr lang="en-IN" sz="1800" dirty="0"/>
          </a:p>
          <a:p>
            <a:r>
              <a:rPr lang="en-IN" sz="1800" b="1" dirty="0"/>
              <a:t>IBM Granite 3.3 8B Instruct</a:t>
            </a:r>
          </a:p>
          <a:p>
            <a:r>
              <a:rPr lang="en-IN" sz="1800" dirty="0"/>
              <a:t>Processes engineering queries and generates technical solutions.</a:t>
            </a:r>
          </a:p>
          <a:p>
            <a:endParaRPr lang="en-IN" sz="1800" dirty="0"/>
          </a:p>
          <a:p>
            <a:r>
              <a:rPr lang="en-IN" sz="1800" b="1" dirty="0"/>
              <a:t>Python Flask</a:t>
            </a:r>
          </a:p>
          <a:p>
            <a:r>
              <a:rPr lang="en-IN" sz="1800" dirty="0"/>
              <a:t>Developed the web application backend.</a:t>
            </a:r>
          </a:p>
          <a:p>
            <a:endParaRPr lang="en-IN" sz="1800" dirty="0"/>
          </a:p>
          <a:p>
            <a:r>
              <a:rPr lang="en-IN" sz="1800" b="1" dirty="0"/>
              <a:t>HTML, CSS, JavaScript</a:t>
            </a:r>
          </a:p>
          <a:p>
            <a:r>
              <a:rPr lang="en-IN" sz="1800" dirty="0"/>
              <a:t>Developed the user interface.</a:t>
            </a:r>
          </a:p>
          <a:p>
            <a:endParaRPr lang="en-IN" sz="1800" dirty="0"/>
          </a:p>
          <a:p>
            <a:r>
              <a:rPr lang="en-IN" sz="1800" b="1" dirty="0"/>
              <a:t>GitHub</a:t>
            </a:r>
          </a:p>
          <a:p>
            <a:r>
              <a:rPr lang="en-IN" sz="1800" dirty="0"/>
              <a:t>Version control and project repository.</a:t>
            </a:r>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4" name="Picture 3">
            <a:extLst>
              <a:ext uri="{FF2B5EF4-FFF2-40B4-BE49-F238E27FC236}">
                <a16:creationId xmlns:a16="http://schemas.microsoft.com/office/drawing/2014/main" id="{75DAC690-B7F8-CB5B-809C-A5C7EA539EBB}"/>
              </a:ext>
            </a:extLst>
          </p:cNvPr>
          <p:cNvPicPr>
            <a:picLocks noChangeAspect="1"/>
          </p:cNvPicPr>
          <p:nvPr/>
        </p:nvPicPr>
        <p:blipFill>
          <a:blip r:embed="rId3"/>
          <a:srcRect t="13228" r="1589"/>
          <a:stretch>
            <a:fillRect/>
          </a:stretch>
        </p:blipFill>
        <p:spPr>
          <a:xfrm>
            <a:off x="411983" y="917607"/>
            <a:ext cx="11368034" cy="5483193"/>
          </a:xfrm>
          <a:prstGeom prst="rect">
            <a:avLst/>
          </a:prstGeom>
        </p:spPr>
      </p:pic>
      <p:pic>
        <p:nvPicPr>
          <p:cNvPr id="5" name="Picture 4">
            <a:extLst>
              <a:ext uri="{FF2B5EF4-FFF2-40B4-BE49-F238E27FC236}">
                <a16:creationId xmlns:a16="http://schemas.microsoft.com/office/drawing/2014/main" id="{60059315-86CB-83BD-7C3D-1E3628153853}"/>
              </a:ext>
            </a:extLst>
          </p:cNvPr>
          <p:cNvPicPr>
            <a:picLocks noChangeAspect="1"/>
          </p:cNvPicPr>
          <p:nvPr/>
        </p:nvPicPr>
        <p:blipFill>
          <a:blip r:embed="rId4"/>
          <a:stretch>
            <a:fillRect/>
          </a:stretch>
        </p:blipFill>
        <p:spPr>
          <a:xfrm>
            <a:off x="411982" y="843279"/>
            <a:ext cx="11368035" cy="5691481"/>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765745" y="476778"/>
            <a:ext cx="5908929" cy="448508"/>
          </a:xfrm>
          <a:prstGeom prst="rect">
            <a:avLst/>
          </a:prstGeom>
          <a:noFill/>
          <a:ln>
            <a:noFill/>
          </a:ln>
        </p:spPr>
        <p:txBody>
          <a:bodyPr spcFirstLastPara="1" wrap="square" lIns="0" tIns="0" rIns="0" bIns="0" anchor="t" anchorCtr="0">
            <a:noAutofit/>
          </a:bodyPr>
          <a:lstStyle/>
          <a:p>
            <a:r>
              <a:rPr lang="en-US" sz="2400" b="1" dirty="0">
                <a:solidFill>
                  <a:schemeClr val="dk1"/>
                </a:solidFill>
                <a:latin typeface="Calibri"/>
                <a:ea typeface="Calibri"/>
                <a:cs typeface="Calibri"/>
              </a:rPr>
              <a:t>Best Model Screenshot:</a:t>
            </a:r>
          </a:p>
        </p:txBody>
      </p:sp>
      <p:pic>
        <p:nvPicPr>
          <p:cNvPr id="4" name="Picture 3">
            <a:extLst>
              <a:ext uri="{FF2B5EF4-FFF2-40B4-BE49-F238E27FC236}">
                <a16:creationId xmlns:a16="http://schemas.microsoft.com/office/drawing/2014/main" id="{E87CC1E1-2314-7757-E0ED-FC2549FB9E8C}"/>
              </a:ext>
            </a:extLst>
          </p:cNvPr>
          <p:cNvPicPr>
            <a:picLocks noChangeAspect="1"/>
          </p:cNvPicPr>
          <p:nvPr/>
        </p:nvPicPr>
        <p:blipFill>
          <a:blip r:embed="rId3"/>
          <a:srcRect t="5567"/>
          <a:stretch>
            <a:fillRect/>
          </a:stretch>
        </p:blipFill>
        <p:spPr>
          <a:xfrm>
            <a:off x="1050471" y="1121229"/>
            <a:ext cx="10091057" cy="5410200"/>
          </a:xfrm>
          <a:prstGeom prst="rect">
            <a:avLst/>
          </a:prstGeom>
        </p:spPr>
      </p:pic>
      <p:pic>
        <p:nvPicPr>
          <p:cNvPr id="5" name="Picture 4">
            <a:extLst>
              <a:ext uri="{FF2B5EF4-FFF2-40B4-BE49-F238E27FC236}">
                <a16:creationId xmlns:a16="http://schemas.microsoft.com/office/drawing/2014/main" id="{DF1C5E5D-B9C5-0D10-A0BC-40D62CBFC783}"/>
              </a:ext>
            </a:extLst>
          </p:cNvPr>
          <p:cNvPicPr>
            <a:picLocks noChangeAspect="1"/>
          </p:cNvPicPr>
          <p:nvPr/>
        </p:nvPicPr>
        <p:blipFill>
          <a:blip r:embed="rId4"/>
          <a:stretch>
            <a:fillRect/>
          </a:stretch>
        </p:blipFill>
        <p:spPr>
          <a:xfrm>
            <a:off x="894080" y="1046482"/>
            <a:ext cx="10240642" cy="559815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B789EB-DE9C-15BC-2E99-E0CEFAF57F80}"/>
              </a:ext>
            </a:extLst>
          </p:cNvPr>
          <p:cNvPicPr>
            <a:picLocks noChangeAspect="1"/>
          </p:cNvPicPr>
          <p:nvPr/>
        </p:nvPicPr>
        <p:blipFill>
          <a:blip r:embed="rId2"/>
          <a:stretch>
            <a:fillRect/>
          </a:stretch>
        </p:blipFill>
        <p:spPr>
          <a:xfrm>
            <a:off x="574832" y="1382486"/>
            <a:ext cx="11192625" cy="4683089"/>
          </a:xfrm>
          <a:prstGeom prst="rect">
            <a:avLst/>
          </a:prstGeom>
        </p:spPr>
      </p:pic>
      <p:sp>
        <p:nvSpPr>
          <p:cNvPr id="7" name="TextBox 6">
            <a:extLst>
              <a:ext uri="{FF2B5EF4-FFF2-40B4-BE49-F238E27FC236}">
                <a16:creationId xmlns:a16="http://schemas.microsoft.com/office/drawing/2014/main" id="{7C680E00-396C-259C-F221-54F110CC472A}"/>
              </a:ext>
            </a:extLst>
          </p:cNvPr>
          <p:cNvSpPr txBox="1"/>
          <p:nvPr/>
        </p:nvSpPr>
        <p:spPr>
          <a:xfrm>
            <a:off x="574832" y="792425"/>
            <a:ext cx="6096000" cy="461665"/>
          </a:xfrm>
          <a:prstGeom prst="rect">
            <a:avLst/>
          </a:prstGeom>
          <a:noFill/>
        </p:spPr>
        <p:txBody>
          <a:bodyPr wrap="square">
            <a:spAutoFit/>
          </a:bodyPr>
          <a:lstStyle/>
          <a:p>
            <a:r>
              <a:rPr lang="en-US" sz="2400" b="1" dirty="0">
                <a:solidFill>
                  <a:schemeClr val="dk1"/>
                </a:solidFill>
                <a:latin typeface="Calibri"/>
                <a:ea typeface="Calibri"/>
                <a:cs typeface="Calibri"/>
              </a:rPr>
              <a:t>Best Model Screenshot:</a:t>
            </a:r>
          </a:p>
        </p:txBody>
      </p:sp>
      <p:pic>
        <p:nvPicPr>
          <p:cNvPr id="3" name="Picture 2">
            <a:extLst>
              <a:ext uri="{FF2B5EF4-FFF2-40B4-BE49-F238E27FC236}">
                <a16:creationId xmlns:a16="http://schemas.microsoft.com/office/drawing/2014/main" id="{64E534B7-B80E-4B85-C769-2FC95FDB55B3}"/>
              </a:ext>
            </a:extLst>
          </p:cNvPr>
          <p:cNvPicPr>
            <a:picLocks noChangeAspect="1"/>
          </p:cNvPicPr>
          <p:nvPr/>
        </p:nvPicPr>
        <p:blipFill>
          <a:blip r:embed="rId3"/>
          <a:stretch>
            <a:fillRect/>
          </a:stretch>
        </p:blipFill>
        <p:spPr>
          <a:xfrm>
            <a:off x="0" y="532048"/>
            <a:ext cx="12192000" cy="5793903"/>
          </a:xfrm>
          <a:prstGeom prst="rect">
            <a:avLst/>
          </a:prstGeom>
        </p:spPr>
      </p:pic>
      <p:pic>
        <p:nvPicPr>
          <p:cNvPr id="6" name="Picture 5">
            <a:extLst>
              <a:ext uri="{FF2B5EF4-FFF2-40B4-BE49-F238E27FC236}">
                <a16:creationId xmlns:a16="http://schemas.microsoft.com/office/drawing/2014/main" id="{4E63842B-50AB-86A3-6400-A89C40428BEF}"/>
              </a:ext>
            </a:extLst>
          </p:cNvPr>
          <p:cNvPicPr>
            <a:picLocks noChangeAspect="1"/>
          </p:cNvPicPr>
          <p:nvPr/>
        </p:nvPicPr>
        <p:blipFill>
          <a:blip r:embed="rId4"/>
          <a:stretch>
            <a:fillRect/>
          </a:stretch>
        </p:blipFill>
        <p:spPr>
          <a:xfrm>
            <a:off x="0" y="541588"/>
            <a:ext cx="12192000" cy="5774823"/>
          </a:xfrm>
          <a:prstGeom prst="rect">
            <a:avLst/>
          </a:prstGeom>
        </p:spPr>
      </p:pic>
    </p:spTree>
    <p:extLst>
      <p:ext uri="{BB962C8B-B14F-4D97-AF65-F5344CB8AC3E}">
        <p14:creationId xmlns:p14="http://schemas.microsoft.com/office/powerpoint/2010/main" val="3697431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A68FD41-2200-D60D-3314-27F5C9C848C9}"/>
              </a:ext>
            </a:extLst>
          </p:cNvPr>
          <p:cNvSpPr txBox="1"/>
          <p:nvPr/>
        </p:nvSpPr>
        <p:spPr>
          <a:xfrm>
            <a:off x="576942" y="313453"/>
            <a:ext cx="6096000" cy="461665"/>
          </a:xfrm>
          <a:prstGeom prst="rect">
            <a:avLst/>
          </a:prstGeom>
          <a:noFill/>
        </p:spPr>
        <p:txBody>
          <a:bodyPr wrap="square">
            <a:spAutoFit/>
          </a:bodyPr>
          <a:lstStyle/>
          <a:p>
            <a:r>
              <a:rPr lang="en-US" sz="2400" b="1" dirty="0">
                <a:solidFill>
                  <a:schemeClr val="dk1"/>
                </a:solidFill>
                <a:latin typeface="Calibri"/>
                <a:ea typeface="Calibri"/>
                <a:cs typeface="Calibri"/>
              </a:rPr>
              <a:t>Model Evaluation Result -</a:t>
            </a:r>
          </a:p>
        </p:txBody>
      </p:sp>
      <p:pic>
        <p:nvPicPr>
          <p:cNvPr id="13" name="Picture 12">
            <a:extLst>
              <a:ext uri="{FF2B5EF4-FFF2-40B4-BE49-F238E27FC236}">
                <a16:creationId xmlns:a16="http://schemas.microsoft.com/office/drawing/2014/main" id="{811BB68D-8E3E-F328-9394-396A15910F46}"/>
              </a:ext>
            </a:extLst>
          </p:cNvPr>
          <p:cNvPicPr>
            <a:picLocks noChangeAspect="1"/>
          </p:cNvPicPr>
          <p:nvPr/>
        </p:nvPicPr>
        <p:blipFill>
          <a:blip r:embed="rId2"/>
          <a:srcRect t="5783" r="1429" b="5102"/>
          <a:stretch>
            <a:fillRect/>
          </a:stretch>
        </p:blipFill>
        <p:spPr>
          <a:xfrm>
            <a:off x="576942" y="931240"/>
            <a:ext cx="11179629" cy="5534873"/>
          </a:xfrm>
          <a:prstGeom prst="rect">
            <a:avLst/>
          </a:prstGeom>
        </p:spPr>
      </p:pic>
      <p:pic>
        <p:nvPicPr>
          <p:cNvPr id="3" name="Picture 2">
            <a:extLst>
              <a:ext uri="{FF2B5EF4-FFF2-40B4-BE49-F238E27FC236}">
                <a16:creationId xmlns:a16="http://schemas.microsoft.com/office/drawing/2014/main" id="{06A84917-88D7-9F28-C000-71104B9F9B38}"/>
              </a:ext>
            </a:extLst>
          </p:cNvPr>
          <p:cNvPicPr>
            <a:picLocks noChangeAspect="1"/>
          </p:cNvPicPr>
          <p:nvPr/>
        </p:nvPicPr>
        <p:blipFill>
          <a:blip r:embed="rId3"/>
          <a:stretch>
            <a:fillRect/>
          </a:stretch>
        </p:blipFill>
        <p:spPr>
          <a:xfrm>
            <a:off x="0" y="931240"/>
            <a:ext cx="12192000" cy="5628544"/>
          </a:xfrm>
          <a:prstGeom prst="rect">
            <a:avLst/>
          </a:prstGeom>
        </p:spPr>
      </p:pic>
    </p:spTree>
    <p:extLst>
      <p:ext uri="{BB962C8B-B14F-4D97-AF65-F5344CB8AC3E}">
        <p14:creationId xmlns:p14="http://schemas.microsoft.com/office/powerpoint/2010/main" val="4108880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endParaRPr lang="en-US" sz="2400" b="1" dirty="0">
              <a:solidFill>
                <a:schemeClr val="dk1"/>
              </a:solidFill>
              <a:latin typeface="Calibri"/>
              <a:ea typeface="Calibri"/>
              <a:cs typeface="Calibri"/>
            </a:endParaRPr>
          </a:p>
        </p:txBody>
      </p:sp>
      <p:pic>
        <p:nvPicPr>
          <p:cNvPr id="6" name="Picture 5">
            <a:extLst>
              <a:ext uri="{FF2B5EF4-FFF2-40B4-BE49-F238E27FC236}">
                <a16:creationId xmlns:a16="http://schemas.microsoft.com/office/drawing/2014/main" id="{023CBCAA-01BC-120F-AC2C-3F13680B3639}"/>
              </a:ext>
            </a:extLst>
          </p:cNvPr>
          <p:cNvPicPr>
            <a:picLocks noChangeAspect="1"/>
          </p:cNvPicPr>
          <p:nvPr/>
        </p:nvPicPr>
        <p:blipFill>
          <a:blip r:embed="rId3"/>
          <a:srcRect t="11839" b="-1"/>
          <a:stretch>
            <a:fillRect/>
          </a:stretch>
        </p:blipFill>
        <p:spPr>
          <a:xfrm>
            <a:off x="653143" y="1001485"/>
            <a:ext cx="11157857" cy="5609475"/>
          </a:xfrm>
          <a:prstGeom prst="rect">
            <a:avLst/>
          </a:prstGeom>
        </p:spPr>
      </p:pic>
      <p:pic>
        <p:nvPicPr>
          <p:cNvPr id="4" name="Picture 3">
            <a:extLst>
              <a:ext uri="{FF2B5EF4-FFF2-40B4-BE49-F238E27FC236}">
                <a16:creationId xmlns:a16="http://schemas.microsoft.com/office/drawing/2014/main" id="{ED579406-9501-E9DD-5477-7408E3D7B13B}"/>
              </a:ext>
            </a:extLst>
          </p:cNvPr>
          <p:cNvPicPr>
            <a:picLocks noChangeAspect="1"/>
          </p:cNvPicPr>
          <p:nvPr/>
        </p:nvPicPr>
        <p:blipFill>
          <a:blip r:embed="rId4"/>
          <a:stretch>
            <a:fillRect/>
          </a:stretch>
        </p:blipFill>
        <p:spPr>
          <a:xfrm>
            <a:off x="0" y="544768"/>
            <a:ext cx="12192000" cy="5768463"/>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9C6BD7-4B1B-F034-6276-79169208955F}"/>
              </a:ext>
            </a:extLst>
          </p:cNvPr>
          <p:cNvPicPr>
            <a:picLocks noChangeAspect="1"/>
          </p:cNvPicPr>
          <p:nvPr/>
        </p:nvPicPr>
        <p:blipFill>
          <a:blip r:embed="rId2"/>
          <a:srcRect t="12978" r="-147"/>
          <a:stretch>
            <a:fillRect/>
          </a:stretch>
        </p:blipFill>
        <p:spPr>
          <a:xfrm>
            <a:off x="414759" y="884488"/>
            <a:ext cx="11254727" cy="5625169"/>
          </a:xfrm>
          <a:prstGeom prst="rect">
            <a:avLst/>
          </a:prstGeom>
        </p:spPr>
      </p:pic>
      <p:pic>
        <p:nvPicPr>
          <p:cNvPr id="4" name="Picture 3">
            <a:extLst>
              <a:ext uri="{FF2B5EF4-FFF2-40B4-BE49-F238E27FC236}">
                <a16:creationId xmlns:a16="http://schemas.microsoft.com/office/drawing/2014/main" id="{807A286F-CB58-E87E-FEEF-7EDF04DB966F}"/>
              </a:ext>
            </a:extLst>
          </p:cNvPr>
          <p:cNvPicPr>
            <a:picLocks noChangeAspect="1"/>
          </p:cNvPicPr>
          <p:nvPr/>
        </p:nvPicPr>
        <p:blipFill>
          <a:blip r:embed="rId3"/>
          <a:stretch>
            <a:fillRect/>
          </a:stretch>
        </p:blipFill>
        <p:spPr>
          <a:xfrm>
            <a:off x="0" y="532048"/>
            <a:ext cx="12192000" cy="5793903"/>
          </a:xfrm>
          <a:prstGeom prst="rect">
            <a:avLst/>
          </a:prstGeom>
        </p:spPr>
      </p:pic>
    </p:spTree>
    <p:extLst>
      <p:ext uri="{BB962C8B-B14F-4D97-AF65-F5344CB8AC3E}">
        <p14:creationId xmlns:p14="http://schemas.microsoft.com/office/powerpoint/2010/main" val="3021295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D9335-4015-2FDA-B13B-0A27CB897D7D}"/>
              </a:ext>
            </a:extLst>
          </p:cNvPr>
          <p:cNvSpPr>
            <a:spLocks noGrp="1"/>
          </p:cNvSpPr>
          <p:nvPr>
            <p:ph type="title"/>
          </p:nvPr>
        </p:nvSpPr>
        <p:spPr>
          <a:xfrm>
            <a:off x="639096" y="481781"/>
            <a:ext cx="3962401" cy="786580"/>
          </a:xfrm>
        </p:spPr>
        <p:txBody>
          <a:bodyPr>
            <a:normAutofit fontScale="90000"/>
          </a:bodyPr>
          <a:lstStyle/>
          <a:p>
            <a:r>
              <a:rPr lang="en-IN" dirty="0"/>
              <a:t>Project demo</a:t>
            </a:r>
          </a:p>
        </p:txBody>
      </p:sp>
      <p:sp>
        <p:nvSpPr>
          <p:cNvPr id="3" name="Text Placeholder 2">
            <a:extLst>
              <a:ext uri="{FF2B5EF4-FFF2-40B4-BE49-F238E27FC236}">
                <a16:creationId xmlns:a16="http://schemas.microsoft.com/office/drawing/2014/main" id="{EE342B55-A12C-07C5-1D85-5FE0C3664D63}"/>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B8175D8C-18A8-8708-F7D7-72684C5050B9}"/>
              </a:ext>
            </a:extLst>
          </p:cNvPr>
          <p:cNvPicPr>
            <a:picLocks noChangeAspect="1"/>
          </p:cNvPicPr>
          <p:nvPr/>
        </p:nvPicPr>
        <p:blipFill>
          <a:blip r:embed="rId2"/>
          <a:stretch>
            <a:fillRect/>
          </a:stretch>
        </p:blipFill>
        <p:spPr>
          <a:xfrm>
            <a:off x="503274" y="1180224"/>
            <a:ext cx="11185452" cy="5677776"/>
          </a:xfrm>
          <a:prstGeom prst="rect">
            <a:avLst/>
          </a:prstGeom>
        </p:spPr>
      </p:pic>
    </p:spTree>
    <p:extLst>
      <p:ext uri="{BB962C8B-B14F-4D97-AF65-F5344CB8AC3E}">
        <p14:creationId xmlns:p14="http://schemas.microsoft.com/office/powerpoint/2010/main" val="1458818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3F338-EE20-5ED0-CA0D-7EFCBBBDB1BC}"/>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459A74C3-6A0B-DBF2-975D-E35817DD5F4F}"/>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37EB103A-0CC0-39DE-6AF7-75BF282ACCA9}"/>
              </a:ext>
            </a:extLst>
          </p:cNvPr>
          <p:cNvPicPr>
            <a:picLocks noChangeAspect="1"/>
          </p:cNvPicPr>
          <p:nvPr/>
        </p:nvPicPr>
        <p:blipFill>
          <a:blip r:embed="rId2"/>
          <a:stretch>
            <a:fillRect/>
          </a:stretch>
        </p:blipFill>
        <p:spPr>
          <a:xfrm>
            <a:off x="0" y="355547"/>
            <a:ext cx="12192000" cy="6146906"/>
          </a:xfrm>
          <a:prstGeom prst="rect">
            <a:avLst/>
          </a:prstGeom>
        </p:spPr>
      </p:pic>
    </p:spTree>
    <p:extLst>
      <p:ext uri="{BB962C8B-B14F-4D97-AF65-F5344CB8AC3E}">
        <p14:creationId xmlns:p14="http://schemas.microsoft.com/office/powerpoint/2010/main" val="1384235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74EF9-3E0E-3638-01D5-917520C2032F}"/>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553E7CE9-0222-8176-9997-B9F516416073}"/>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CB3E59C7-78E3-0B32-F26D-071BEE025C76}"/>
              </a:ext>
            </a:extLst>
          </p:cNvPr>
          <p:cNvPicPr>
            <a:picLocks noChangeAspect="1"/>
          </p:cNvPicPr>
          <p:nvPr/>
        </p:nvPicPr>
        <p:blipFill>
          <a:blip r:embed="rId2"/>
          <a:stretch>
            <a:fillRect/>
          </a:stretch>
        </p:blipFill>
        <p:spPr>
          <a:xfrm>
            <a:off x="0" y="355547"/>
            <a:ext cx="12192000" cy="6146906"/>
          </a:xfrm>
          <a:prstGeom prst="rect">
            <a:avLst/>
          </a:prstGeom>
        </p:spPr>
      </p:pic>
    </p:spTree>
    <p:extLst>
      <p:ext uri="{BB962C8B-B14F-4D97-AF65-F5344CB8AC3E}">
        <p14:creationId xmlns:p14="http://schemas.microsoft.com/office/powerpoint/2010/main" val="2267756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58FC1-A902-E53A-D206-E2662927E51B}"/>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4917287B-EC1E-1F9C-49D8-482933DA4F58}"/>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DF74E105-CDBE-4A17-7E5B-153CB8CC9A11}"/>
              </a:ext>
            </a:extLst>
          </p:cNvPr>
          <p:cNvPicPr>
            <a:picLocks noChangeAspect="1"/>
          </p:cNvPicPr>
          <p:nvPr/>
        </p:nvPicPr>
        <p:blipFill>
          <a:blip r:embed="rId2"/>
          <a:stretch>
            <a:fillRect/>
          </a:stretch>
        </p:blipFill>
        <p:spPr>
          <a:xfrm>
            <a:off x="0" y="398490"/>
            <a:ext cx="12192000" cy="6061020"/>
          </a:xfrm>
          <a:prstGeom prst="rect">
            <a:avLst/>
          </a:prstGeom>
        </p:spPr>
      </p:pic>
    </p:spTree>
    <p:extLst>
      <p:ext uri="{BB962C8B-B14F-4D97-AF65-F5344CB8AC3E}">
        <p14:creationId xmlns:p14="http://schemas.microsoft.com/office/powerpoint/2010/main" val="1220787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2778D-76C6-A1BA-A889-2B89FAD070FE}"/>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78D3C953-A570-E56B-588E-BEA3D473D34B}"/>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E3BDED03-95E5-33F7-BA97-8C1D9414AA69}"/>
              </a:ext>
            </a:extLst>
          </p:cNvPr>
          <p:cNvPicPr>
            <a:picLocks noChangeAspect="1"/>
          </p:cNvPicPr>
          <p:nvPr/>
        </p:nvPicPr>
        <p:blipFill>
          <a:blip r:embed="rId2"/>
          <a:stretch>
            <a:fillRect/>
          </a:stretch>
        </p:blipFill>
        <p:spPr>
          <a:xfrm>
            <a:off x="0" y="325350"/>
            <a:ext cx="12192000" cy="6207299"/>
          </a:xfrm>
          <a:prstGeom prst="rect">
            <a:avLst/>
          </a:prstGeom>
        </p:spPr>
      </p:pic>
    </p:spTree>
    <p:extLst>
      <p:ext uri="{BB962C8B-B14F-4D97-AF65-F5344CB8AC3E}">
        <p14:creationId xmlns:p14="http://schemas.microsoft.com/office/powerpoint/2010/main" val="47264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C00F3-A973-95BE-D1EB-A3735F42F09F}"/>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7146ADF5-A409-F469-BF89-1F1BD88F5EC5}"/>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44F1C81D-36CA-4BB9-6A9A-FB07AE81DFBC}"/>
              </a:ext>
            </a:extLst>
          </p:cNvPr>
          <p:cNvPicPr>
            <a:picLocks noChangeAspect="1"/>
          </p:cNvPicPr>
          <p:nvPr/>
        </p:nvPicPr>
        <p:blipFill>
          <a:blip r:embed="rId2"/>
          <a:stretch>
            <a:fillRect/>
          </a:stretch>
        </p:blipFill>
        <p:spPr>
          <a:xfrm>
            <a:off x="0" y="369870"/>
            <a:ext cx="12192000" cy="6118260"/>
          </a:xfrm>
          <a:prstGeom prst="rect">
            <a:avLst/>
          </a:prstGeom>
        </p:spPr>
      </p:pic>
    </p:spTree>
    <p:extLst>
      <p:ext uri="{BB962C8B-B14F-4D97-AF65-F5344CB8AC3E}">
        <p14:creationId xmlns:p14="http://schemas.microsoft.com/office/powerpoint/2010/main" val="2754665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769628" cy="4247317"/>
          </a:xfrm>
          <a:prstGeom prst="rect">
            <a:avLst/>
          </a:prstGeom>
          <a:noFill/>
        </p:spPr>
        <p:txBody>
          <a:bodyPr wrap="square" lIns="91440" tIns="45720" rIns="91440" bIns="45720" rtlCol="0" anchor="t">
            <a:spAutoFit/>
          </a:bodyPr>
          <a:lstStyle/>
          <a:p>
            <a:r>
              <a:rPr lang="en-IN" sz="1800" dirty="0"/>
              <a:t>The proposed Audio Signal Processing Assistant provides intelligent AI-based troubleshooting for electronics and audio circuit design.</a:t>
            </a:r>
          </a:p>
          <a:p>
            <a:endParaRPr lang="en-IN" sz="1800" dirty="0"/>
          </a:p>
          <a:p>
            <a:r>
              <a:rPr lang="en-IN" sz="1800" dirty="0"/>
              <a:t>Key features include:</a:t>
            </a:r>
          </a:p>
          <a:p>
            <a:endParaRPr lang="en-IN" sz="1800" dirty="0"/>
          </a:p>
          <a:p>
            <a:pPr marL="285750" indent="-285750">
              <a:buFont typeface="Arial" panose="020B0604020202020204" pitchFamily="34" charset="0"/>
              <a:buChar char="•"/>
            </a:pPr>
            <a:r>
              <a:rPr lang="en-IN" sz="1800" dirty="0"/>
              <a:t>AI-powered technical guidance </a:t>
            </a:r>
          </a:p>
          <a:p>
            <a:pPr marL="285750" indent="-285750">
              <a:buFont typeface="Arial" panose="020B0604020202020204" pitchFamily="34" charset="0"/>
              <a:buChar char="•"/>
            </a:pPr>
            <a:r>
              <a:rPr lang="en-IN" sz="1800" dirty="0"/>
              <a:t>Automatic circuit problem analysis </a:t>
            </a:r>
          </a:p>
          <a:p>
            <a:pPr marL="285750" indent="-285750">
              <a:buFont typeface="Arial" panose="020B0604020202020204" pitchFamily="34" charset="0"/>
              <a:buChar char="•"/>
            </a:pPr>
            <a:r>
              <a:rPr lang="en-IN" sz="1800" dirty="0"/>
              <a:t>Noise and distortion troubleshooting </a:t>
            </a:r>
          </a:p>
          <a:p>
            <a:pPr marL="285750" indent="-285750">
              <a:buFont typeface="Arial" panose="020B0604020202020204" pitchFamily="34" charset="0"/>
              <a:buChar char="•"/>
            </a:pPr>
            <a:r>
              <a:rPr lang="en-IN" sz="1800" dirty="0"/>
              <a:t>Filter design recommendations </a:t>
            </a:r>
          </a:p>
          <a:p>
            <a:pPr marL="285750" indent="-285750">
              <a:buFont typeface="Arial" panose="020B0604020202020204" pitchFamily="34" charset="0"/>
              <a:buChar char="•"/>
            </a:pPr>
            <a:r>
              <a:rPr lang="en-IN" sz="1800" dirty="0"/>
              <a:t>Component selection assistance </a:t>
            </a:r>
          </a:p>
          <a:p>
            <a:pPr marL="285750" indent="-285750">
              <a:buFont typeface="Arial" panose="020B0604020202020204" pitchFamily="34" charset="0"/>
              <a:buChar char="•"/>
            </a:pPr>
            <a:r>
              <a:rPr lang="en-IN" sz="1800" dirty="0"/>
              <a:t>User-friendly web interface </a:t>
            </a:r>
          </a:p>
          <a:p>
            <a:pPr marL="285750" indent="-285750">
              <a:buFont typeface="Arial" panose="020B0604020202020204" pitchFamily="34" charset="0"/>
              <a:buChar char="•"/>
            </a:pPr>
            <a:r>
              <a:rPr lang="en-IN" sz="1800" dirty="0"/>
              <a:t>Fast and accurate responses using IBM Granite AI </a:t>
            </a:r>
          </a:p>
          <a:p>
            <a:endParaRPr lang="en-IN" sz="1800" dirty="0"/>
          </a:p>
          <a:p>
            <a:r>
              <a:rPr lang="en-IN" sz="1800" dirty="0"/>
              <a:t>The system significantly reduces debugging time and improves learning for students and engineers.</a:t>
            </a:r>
          </a:p>
          <a:p>
            <a:endParaRPr lang="en-IN" sz="1800" dirty="0"/>
          </a:p>
        </p:txBody>
      </p:sp>
    </p:spTree>
    <p:extLst>
      <p:ext uri="{BB962C8B-B14F-4D97-AF65-F5344CB8AC3E}">
        <p14:creationId xmlns:p14="http://schemas.microsoft.com/office/powerpoint/2010/main" val="917964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579120" y="420729"/>
            <a:ext cx="7084100" cy="704017"/>
          </a:xfrm>
          <a:prstGeom prst="rect">
            <a:avLst/>
          </a:prstGeom>
          <a:noFill/>
          <a:ln>
            <a:noFill/>
          </a:ln>
        </p:spPr>
        <p:txBody>
          <a:bodyPr spcFirstLastPara="1" wrap="square" lIns="0" tIns="0" rIns="0" bIns="0" anchor="t" anchorCtr="0">
            <a:noAutofit/>
          </a:bodyPr>
          <a:lstStyle/>
          <a:p>
            <a:pPr marL="0" marR="0" lvl="0" indent="0" algn="just"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579120" y="1153711"/>
            <a:ext cx="10927080" cy="5429969"/>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r>
              <a:rPr lang="en-US" sz="1850" dirty="0">
                <a:solidFill>
                  <a:srgbClr val="2B3541"/>
                </a:solidFill>
                <a:latin typeface="Times New Roman"/>
                <a:ea typeface="Times New Roman"/>
                <a:cs typeface="Times New Roman"/>
                <a:sym typeface="Times New Roman"/>
              </a:rPr>
              <a:t> </a:t>
            </a:r>
            <a:endParaRPr lang="en-US" sz="1850" b="0" i="0" u="none" strike="noStrike" cap="none"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highlight>
                  <a:srgbClr val="FFFF00"/>
                </a:highlight>
                <a:latin typeface="Times New Roman"/>
                <a:ea typeface="Times New Roman"/>
                <a:cs typeface="Times New Roman"/>
                <a:sym typeface="Times New Roman"/>
              </a:rPr>
              <a:t>https://github.com/nirajdevtech/Audio-Signal-Processing-Agent</a:t>
            </a:r>
            <a:endParaRPr lang="en-US" sz="1850" dirty="0">
              <a:solidFill>
                <a:srgbClr val="2B3541"/>
              </a:solidFill>
              <a:highlight>
                <a:srgbClr val="FFFF00"/>
              </a:highlight>
              <a:latin typeface="Times New Roman"/>
              <a:ea typeface="Times New Roman"/>
              <a:cs typeface="Times New Roman"/>
            </a:endParaRPr>
          </a:p>
          <a:p>
            <a:pPr>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App.js</a:t>
            </a:r>
          </a:p>
          <a:p>
            <a:pPr>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 2) your problem statement.pdf file  </a:t>
            </a:r>
          </a:p>
          <a:p>
            <a:pPr>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3) your project presntation.pptx file </a:t>
            </a:r>
          </a:p>
          <a:p>
            <a:pPr>
              <a:lnSpc>
                <a:spcPct val="162162"/>
              </a:lnSpc>
              <a:buClr>
                <a:srgbClr val="2B3541"/>
              </a:buClr>
              <a:buSzPts val="1850"/>
            </a:pP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93804"/>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098504" y="1379380"/>
            <a:ext cx="9558609" cy="5145425"/>
          </a:xfrm>
          <a:prstGeom prst="rect">
            <a:avLst/>
          </a:prstGeom>
          <a:noFill/>
          <a:ln>
            <a:noFill/>
          </a:ln>
        </p:spPr>
        <p:txBody>
          <a:bodyPr spcFirstLastPara="1" wrap="square" lIns="0" tIns="0" rIns="0" bIns="0" anchor="t" anchorCtr="0">
            <a:noAutofit/>
          </a:bodyPr>
          <a:lstStyle/>
          <a:p>
            <a:pPr lvl="0">
              <a:lnSpc>
                <a:spcPct val="150000"/>
              </a:lnSpc>
              <a:buSzPts val="1850"/>
            </a:pPr>
            <a:endParaRPr lang="en-US" sz="1800" b="1" dirty="0">
              <a:solidFill>
                <a:srgbClr val="2B3541"/>
              </a:solidFill>
              <a:latin typeface="Times New Roman"/>
              <a:cs typeface="Times New Roman"/>
            </a:endParaRPr>
          </a:p>
        </p:txBody>
      </p:sp>
      <p:sp>
        <p:nvSpPr>
          <p:cNvPr id="3" name="TextBox 2">
            <a:extLst>
              <a:ext uri="{FF2B5EF4-FFF2-40B4-BE49-F238E27FC236}">
                <a16:creationId xmlns:a16="http://schemas.microsoft.com/office/drawing/2014/main" id="{05DF0BFB-3316-0002-28A0-5D8FEA835F38}"/>
              </a:ext>
            </a:extLst>
          </p:cNvPr>
          <p:cNvSpPr txBox="1"/>
          <p:nvPr/>
        </p:nvSpPr>
        <p:spPr>
          <a:xfrm>
            <a:off x="1098504" y="1335960"/>
            <a:ext cx="9971791" cy="3781741"/>
          </a:xfrm>
          <a:prstGeom prst="rect">
            <a:avLst/>
          </a:prstGeom>
          <a:noFill/>
        </p:spPr>
        <p:txBody>
          <a:bodyPr wrap="square">
            <a:spAutoFit/>
          </a:bodyPr>
          <a:lstStyle/>
          <a:p>
            <a:pPr marL="285750" lvl="0" indent="-285750">
              <a:lnSpc>
                <a:spcPct val="150000"/>
              </a:lnSpc>
              <a:buSzPts val="1850"/>
              <a:buFont typeface="Arial" panose="020B0604020202020204" pitchFamily="34" charset="0"/>
              <a:buChar char="•"/>
            </a:pPr>
            <a:r>
              <a:rPr lang="en-IN" sz="1800" dirty="0"/>
              <a:t>Voice-enabled assistant </a:t>
            </a:r>
          </a:p>
          <a:p>
            <a:pPr marL="285750" lvl="0" indent="-285750">
              <a:lnSpc>
                <a:spcPct val="150000"/>
              </a:lnSpc>
              <a:buSzPts val="1850"/>
              <a:buFont typeface="Arial" panose="020B0604020202020204" pitchFamily="34" charset="0"/>
              <a:buChar char="•"/>
            </a:pPr>
            <a:r>
              <a:rPr lang="en-IN" sz="1800" dirty="0"/>
              <a:t>Audio waveform analysis </a:t>
            </a:r>
          </a:p>
          <a:p>
            <a:pPr marL="285750" lvl="0" indent="-285750">
              <a:lnSpc>
                <a:spcPct val="150000"/>
              </a:lnSpc>
              <a:buSzPts val="1850"/>
              <a:buFont typeface="Arial" panose="020B0604020202020204" pitchFamily="34" charset="0"/>
              <a:buChar char="•"/>
            </a:pPr>
            <a:r>
              <a:rPr lang="en-IN" sz="1800" dirty="0"/>
              <a:t>PCB fault detection </a:t>
            </a:r>
          </a:p>
          <a:p>
            <a:pPr marL="285750" lvl="0" indent="-285750">
              <a:lnSpc>
                <a:spcPct val="150000"/>
              </a:lnSpc>
              <a:buSzPts val="1850"/>
              <a:buFont typeface="Arial" panose="020B0604020202020204" pitchFamily="34" charset="0"/>
              <a:buChar char="•"/>
            </a:pPr>
            <a:r>
              <a:rPr lang="en-IN" sz="1800" dirty="0"/>
              <a:t>LTspice integration </a:t>
            </a:r>
          </a:p>
          <a:p>
            <a:pPr marL="285750" lvl="0" indent="-285750">
              <a:lnSpc>
                <a:spcPct val="150000"/>
              </a:lnSpc>
              <a:buSzPts val="1850"/>
              <a:buFont typeface="Arial" panose="020B0604020202020204" pitchFamily="34" charset="0"/>
              <a:buChar char="•"/>
            </a:pPr>
            <a:r>
              <a:rPr lang="en-IN" sz="1800" dirty="0"/>
              <a:t>Oscilloscope signal interpretation </a:t>
            </a:r>
          </a:p>
          <a:p>
            <a:pPr marL="285750" lvl="0" indent="-285750">
              <a:lnSpc>
                <a:spcPct val="150000"/>
              </a:lnSpc>
              <a:buSzPts val="1850"/>
              <a:buFont typeface="Arial" panose="020B0604020202020204" pitchFamily="34" charset="0"/>
              <a:buChar char="•"/>
            </a:pPr>
            <a:r>
              <a:rPr lang="en-IN" sz="1800" dirty="0"/>
              <a:t>Mobile application </a:t>
            </a:r>
          </a:p>
          <a:p>
            <a:pPr marL="285750" lvl="0" indent="-285750">
              <a:lnSpc>
                <a:spcPct val="150000"/>
              </a:lnSpc>
              <a:buSzPts val="1850"/>
              <a:buFont typeface="Arial" panose="020B0604020202020204" pitchFamily="34" charset="0"/>
              <a:buChar char="•"/>
            </a:pPr>
            <a:r>
              <a:rPr lang="en-IN" sz="1800" dirty="0"/>
              <a:t>IoT-based hardware diagnostics </a:t>
            </a:r>
          </a:p>
          <a:p>
            <a:pPr marL="285750" lvl="0" indent="-285750">
              <a:lnSpc>
                <a:spcPct val="150000"/>
              </a:lnSpc>
              <a:buSzPts val="1850"/>
              <a:buFont typeface="Arial" panose="020B0604020202020204" pitchFamily="34" charset="0"/>
              <a:buChar char="•"/>
            </a:pPr>
            <a:r>
              <a:rPr lang="en-IN" sz="1800" dirty="0"/>
              <a:t>Multi-language support </a:t>
            </a:r>
          </a:p>
          <a:p>
            <a:pPr marL="285750" lvl="0" indent="-285750">
              <a:lnSpc>
                <a:spcPct val="150000"/>
              </a:lnSpc>
              <a:buSzPts val="1850"/>
              <a:buFont typeface="Arial" panose="020B0604020202020204" pitchFamily="34" charset="0"/>
              <a:buChar char="•"/>
            </a:pPr>
            <a:r>
              <a:rPr lang="en-IN" sz="1800" dirty="0"/>
              <a:t>Real-time circuit simulation</a:t>
            </a:r>
            <a:endParaRPr lang="en-US" sz="1800" b="1" dirty="0">
              <a:solidFill>
                <a:srgbClr val="2B3541"/>
              </a:solidFill>
              <a:latin typeface="Times New Roman"/>
              <a:cs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sp>
        <p:nvSpPr>
          <p:cNvPr id="3" name="TextBox 2">
            <a:extLst>
              <a:ext uri="{FF2B5EF4-FFF2-40B4-BE49-F238E27FC236}">
                <a16:creationId xmlns:a16="http://schemas.microsoft.com/office/drawing/2014/main" id="{4837D5EE-379B-FDC5-0854-8AC81D31FADF}"/>
              </a:ext>
            </a:extLst>
          </p:cNvPr>
          <p:cNvSpPr txBox="1"/>
          <p:nvPr/>
        </p:nvSpPr>
        <p:spPr>
          <a:xfrm>
            <a:off x="603973" y="722718"/>
            <a:ext cx="1163995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Getting Started with Artificial Intelligence credly certificate </a:t>
            </a:r>
          </a:p>
        </p:txBody>
      </p:sp>
      <p:pic>
        <p:nvPicPr>
          <p:cNvPr id="8" name="Picture 7">
            <a:extLst>
              <a:ext uri="{FF2B5EF4-FFF2-40B4-BE49-F238E27FC236}">
                <a16:creationId xmlns:a16="http://schemas.microsoft.com/office/drawing/2014/main" id="{32D15EF8-8EB4-5636-EA11-D1910E2262FA}"/>
              </a:ext>
            </a:extLst>
          </p:cNvPr>
          <p:cNvPicPr>
            <a:picLocks noChangeAspect="1"/>
          </p:cNvPicPr>
          <p:nvPr/>
        </p:nvPicPr>
        <p:blipFill>
          <a:blip r:embed="rId2"/>
          <a:srcRect l="1330" t="1295" r="715" b="2772"/>
          <a:stretch>
            <a:fillRect/>
          </a:stretch>
        </p:blipFill>
        <p:spPr>
          <a:xfrm>
            <a:off x="2656114" y="1600201"/>
            <a:ext cx="6585857" cy="4876800"/>
          </a:xfrm>
          <a:prstGeom prst="rect">
            <a:avLst/>
          </a:prstGeom>
        </p:spPr>
      </p:pic>
      <p:pic>
        <p:nvPicPr>
          <p:cNvPr id="4" name="Picture 3">
            <a:extLst>
              <a:ext uri="{FF2B5EF4-FFF2-40B4-BE49-F238E27FC236}">
                <a16:creationId xmlns:a16="http://schemas.microsoft.com/office/drawing/2014/main" id="{2E5F7F3B-845B-63D3-18F0-95C157E29DC0}"/>
              </a:ext>
            </a:extLst>
          </p:cNvPr>
          <p:cNvPicPr>
            <a:picLocks noChangeAspect="1"/>
          </p:cNvPicPr>
          <p:nvPr/>
        </p:nvPicPr>
        <p:blipFill>
          <a:blip r:embed="rId3"/>
          <a:stretch>
            <a:fillRect/>
          </a:stretch>
        </p:blipFill>
        <p:spPr>
          <a:xfrm>
            <a:off x="2153605" y="1399826"/>
            <a:ext cx="7254869" cy="5372566"/>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37D7CD-22E2-6C57-761D-8A3DE3FE20C7}"/>
              </a:ext>
            </a:extLst>
          </p:cNvPr>
          <p:cNvSpPr txBox="1"/>
          <p:nvPr/>
        </p:nvSpPr>
        <p:spPr>
          <a:xfrm>
            <a:off x="468085" y="248883"/>
            <a:ext cx="6096000" cy="461665"/>
          </a:xfrm>
          <a:prstGeom prst="rect">
            <a:avLst/>
          </a:prstGeom>
          <a:noFill/>
        </p:spPr>
        <p:txBody>
          <a:bodyPr wrap="square">
            <a:spAutoFit/>
          </a:bodyPr>
          <a:lstStyle/>
          <a:p>
            <a:r>
              <a:rPr lang="en-US" sz="2400" b="1" dirty="0"/>
              <a:t>Certificates Earned:</a:t>
            </a:r>
          </a:p>
        </p:txBody>
      </p:sp>
      <p:sp>
        <p:nvSpPr>
          <p:cNvPr id="7" name="TextBox 6">
            <a:extLst>
              <a:ext uri="{FF2B5EF4-FFF2-40B4-BE49-F238E27FC236}">
                <a16:creationId xmlns:a16="http://schemas.microsoft.com/office/drawing/2014/main" id="{5C812177-FB3F-6A9A-5227-06EF6EFCFAF4}"/>
              </a:ext>
            </a:extLst>
          </p:cNvPr>
          <p:cNvSpPr txBox="1"/>
          <p:nvPr/>
        </p:nvSpPr>
        <p:spPr>
          <a:xfrm>
            <a:off x="827315" y="819405"/>
            <a:ext cx="10929258" cy="523220"/>
          </a:xfrm>
          <a:prstGeom prst="rect">
            <a:avLst/>
          </a:prstGeom>
          <a:noFill/>
        </p:spPr>
        <p:txBody>
          <a:bodyPr wrap="square">
            <a:spAutoFit/>
          </a:bodyPr>
          <a:lstStyle/>
          <a:p>
            <a:r>
              <a:rPr lang="en-US" sz="2800" b="1" dirty="0"/>
              <a:t>Getting Started with Artificial Intelligence credly certificate </a:t>
            </a:r>
          </a:p>
        </p:txBody>
      </p:sp>
      <p:pic>
        <p:nvPicPr>
          <p:cNvPr id="9" name="Picture 8">
            <a:extLst>
              <a:ext uri="{FF2B5EF4-FFF2-40B4-BE49-F238E27FC236}">
                <a16:creationId xmlns:a16="http://schemas.microsoft.com/office/drawing/2014/main" id="{B07A0192-2858-2EB0-307A-0D9AE45178AF}"/>
              </a:ext>
            </a:extLst>
          </p:cNvPr>
          <p:cNvPicPr>
            <a:picLocks noChangeAspect="1"/>
          </p:cNvPicPr>
          <p:nvPr/>
        </p:nvPicPr>
        <p:blipFill>
          <a:blip r:embed="rId2"/>
          <a:srcRect l="1176" t="2209" r="841" b="4695"/>
          <a:stretch>
            <a:fillRect/>
          </a:stretch>
        </p:blipFill>
        <p:spPr>
          <a:xfrm>
            <a:off x="2525484" y="1643744"/>
            <a:ext cx="6564087" cy="4778828"/>
          </a:xfrm>
          <a:prstGeom prst="rect">
            <a:avLst/>
          </a:prstGeom>
        </p:spPr>
      </p:pic>
      <p:pic>
        <p:nvPicPr>
          <p:cNvPr id="3" name="Picture 2">
            <a:extLst>
              <a:ext uri="{FF2B5EF4-FFF2-40B4-BE49-F238E27FC236}">
                <a16:creationId xmlns:a16="http://schemas.microsoft.com/office/drawing/2014/main" id="{0AA8086C-DBF2-AF7A-E141-09E23C8620EA}"/>
              </a:ext>
            </a:extLst>
          </p:cNvPr>
          <p:cNvPicPr>
            <a:picLocks noChangeAspect="1"/>
          </p:cNvPicPr>
          <p:nvPr/>
        </p:nvPicPr>
        <p:blipFill>
          <a:blip r:embed="rId3"/>
          <a:stretch>
            <a:fillRect/>
          </a:stretch>
        </p:blipFill>
        <p:spPr>
          <a:xfrm>
            <a:off x="2178982" y="1451483"/>
            <a:ext cx="6987460" cy="5233798"/>
          </a:xfrm>
          <a:prstGeom prst="rect">
            <a:avLst/>
          </a:prstGeom>
        </p:spPr>
      </p:pic>
    </p:spTree>
    <p:extLst>
      <p:ext uri="{BB962C8B-B14F-4D97-AF65-F5344CB8AC3E}">
        <p14:creationId xmlns:p14="http://schemas.microsoft.com/office/powerpoint/2010/main" val="1177120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383525" y="323417"/>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pic>
        <p:nvPicPr>
          <p:cNvPr id="3" name="Picture 2">
            <a:extLst>
              <a:ext uri="{FF2B5EF4-FFF2-40B4-BE49-F238E27FC236}">
                <a16:creationId xmlns:a16="http://schemas.microsoft.com/office/drawing/2014/main" id="{B5879C02-897D-F82D-5388-73C8BAA60D32}"/>
              </a:ext>
            </a:extLst>
          </p:cNvPr>
          <p:cNvPicPr>
            <a:picLocks noChangeAspect="1"/>
          </p:cNvPicPr>
          <p:nvPr/>
        </p:nvPicPr>
        <p:blipFill>
          <a:blip r:embed="rId2"/>
          <a:srcRect l="1187" t="2471" r="5607" b="18003"/>
          <a:stretch>
            <a:fillRect/>
          </a:stretch>
        </p:blipFill>
        <p:spPr>
          <a:xfrm>
            <a:off x="2688770" y="1477579"/>
            <a:ext cx="6095999" cy="4579952"/>
          </a:xfrm>
          <a:prstGeom prst="rect">
            <a:avLst/>
          </a:prstGeom>
        </p:spPr>
      </p:pic>
      <p:pic>
        <p:nvPicPr>
          <p:cNvPr id="4" name="Picture 3">
            <a:extLst>
              <a:ext uri="{FF2B5EF4-FFF2-40B4-BE49-F238E27FC236}">
                <a16:creationId xmlns:a16="http://schemas.microsoft.com/office/drawing/2014/main" id="{3CE7CD71-5029-D056-DDBF-CE9A83069BD4}"/>
              </a:ext>
            </a:extLst>
          </p:cNvPr>
          <p:cNvPicPr>
            <a:picLocks noChangeAspect="1"/>
          </p:cNvPicPr>
          <p:nvPr/>
        </p:nvPicPr>
        <p:blipFill>
          <a:blip r:embed="rId3"/>
          <a:stretch>
            <a:fillRect/>
          </a:stretch>
        </p:blipFill>
        <p:spPr>
          <a:xfrm>
            <a:off x="2306320" y="1471797"/>
            <a:ext cx="8123925" cy="4964236"/>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 name="TextBox 2">
            <a:extLst>
              <a:ext uri="{FF2B5EF4-FFF2-40B4-BE49-F238E27FC236}">
                <a16:creationId xmlns:a16="http://schemas.microsoft.com/office/drawing/2014/main" id="{3AB7589F-5762-1B9E-4D3C-2D3ACD1E3B66}"/>
              </a:ext>
            </a:extLst>
          </p:cNvPr>
          <p:cNvSpPr txBox="1"/>
          <p:nvPr/>
        </p:nvSpPr>
        <p:spPr>
          <a:xfrm>
            <a:off x="3222171" y="2447798"/>
            <a:ext cx="6096000" cy="1200329"/>
          </a:xfrm>
          <a:prstGeom prst="rect">
            <a:avLst/>
          </a:prstGeom>
          <a:noFill/>
        </p:spPr>
        <p:txBody>
          <a:bodyPr wrap="square">
            <a:spAutoFit/>
          </a:bodyPr>
          <a:lstStyle/>
          <a:p>
            <a:r>
              <a:rPr lang="en-US" sz="7200" b="1" dirty="0"/>
              <a:t>Thank You!!!</a:t>
            </a:r>
            <a:endParaRPr lang="en-IN" sz="72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TotalTime>
  <Words>586</Words>
  <Application>Microsoft Office PowerPoint</Application>
  <PresentationFormat>Widescreen</PresentationFormat>
  <Paragraphs>98</Paragraphs>
  <Slides>24</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demo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Niraj yadav</cp:lastModifiedBy>
  <cp:revision>9</cp:revision>
  <dcterms:created xsi:type="dcterms:W3CDTF">2025-07-08T05:06:56Z</dcterms:created>
  <dcterms:modified xsi:type="dcterms:W3CDTF">2026-07-13T22:05:59Z</dcterms:modified>
</cp:coreProperties>
</file>